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9" r:id="rId14"/>
    <p:sldId id="266" r:id="rId15"/>
    <p:sldId id="271" r:id="rId16"/>
    <p:sldId id="272" r:id="rId17"/>
    <p:sldId id="273" r:id="rId18"/>
    <p:sldId id="274" r:id="rId19"/>
    <p:sldId id="275" r:id="rId20"/>
    <p:sldId id="270" r:id="rId21"/>
    <p:sldId id="276" r:id="rId22"/>
    <p:sldId id="278" r:id="rId23"/>
    <p:sldId id="277" r:id="rId24"/>
    <p:sldId id="279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ACC43-FB45-605A-BBD8-1A8FEA6A0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830921-A554-6537-5F31-945D0274E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1AE885-2E84-3688-A569-B172AFF5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FE861E-AE04-36B8-9D6D-61AB5483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BEAD2C-8D6C-044D-16F3-0427ACD1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2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D9AA8-B495-0EC7-7435-F4643FC7A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D15B6A-FD9B-2D55-090F-01657BF3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1EB7DC-577B-7B5F-9BB0-CB5426D1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2A72A6-CAA7-C8A8-F12C-9F33F019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F0F598-BB9E-B453-E36F-10FF39FB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35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2A7C76-70B5-D88A-573B-C96516D4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2A8469-7BAF-EF7C-75AA-6B7ED44D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ED5F46-952D-047E-DF53-F47BC547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0CD0F0-D563-B9DC-71EC-54C14ECF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5DAFCF-3D97-A072-E864-E0CDEA0C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20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A52D51-6A4F-2B93-23E6-EA8E275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4EC147-06A9-DCE7-1BEF-288AD9265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1521E7-2DC0-248A-5286-D5AF428DA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A2BBCE-31F3-1348-ED4F-48AC9F10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40D9C7-A9A9-D358-A31A-8FA5BFFE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443670-C8BF-22EE-5385-F5AE4F5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15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41EDE-DF43-AAB6-9A83-26B0724D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F9F475-110D-2321-4044-97C69F9C5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5AD2B1-698E-0DA4-5A93-8F82E7551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1B30CC-76E2-C8EE-C61F-4CE36494F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B1F2F6-BF97-187A-518C-0EC4F3A8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F0DA88F-9A75-7A26-420F-A32E9001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61C3FA-041F-772F-09D1-1C2D512D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062DB0-9C38-10AE-0764-5A12CD79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48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81DBC-296C-85AA-5AB6-B970B7F5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A5FF9F-6099-2177-1E81-5129DE39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5B5329-E27C-124E-8D94-041279ED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D9667A-1B4B-203C-5E75-A19E89E8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93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DD5FF21-0138-51DD-334B-57265B83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1EED5D-F525-1E47-AF98-E89B19F1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5A46DB-2C6D-20E9-2960-4707E18D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92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0429A-E8F6-38DA-B55C-2EA8CCB1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31160B-2451-150B-6B96-87742978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ADDE5F-9792-C38B-4CE9-D964A9E09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547684-789A-9EC8-ED78-D9C06542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D0DA99-4EF0-A0B5-F888-D92E1213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D9BBCC-9791-EA99-3581-5CF123D0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51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6E535-58A0-CB21-B1DD-65149787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99BC43-828E-3E24-4BB2-94FE47F18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6689A9-BFAC-50AF-05A2-41AE0BBB1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9C429B-FCE2-0299-E54F-D8C1F0D7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83F2E4-B7F6-FFAC-44EC-BEECA897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C7E2BE-A66A-7961-4960-EF61BE87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67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7A237-7706-F1C3-286C-1ADC2BAA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D660B0-0E58-8322-671E-8EC5FE4EE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B5B11C-3A98-C640-3355-E1B63F47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94AC5-A573-FDA7-68EA-6B6D06CE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CDA44A-DB4D-92ED-BF74-7CB4FEAE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13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B072CC-65DC-3468-5640-AD55620C5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49D6BE-8EA9-6F1A-34E3-D3C3ED1FB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000D60-DF79-CBD2-5967-683CC177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F3BDD3-F834-3E76-28E7-63F33F946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D7DD57-02A0-D41E-6861-405EEE56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34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C10867E-AF7A-1878-BA22-B1DFED7E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7A145B-F9BF-D8A0-651D-3AF168FB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CA27F0-F048-1D44-BDFC-A1118EEFF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D8AB8-7009-47AE-A15F-9FDDDF866E11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1C6EDF-E2D9-EB31-620E-AE04409ED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60DC5E-22BF-A108-386C-0202FBEA4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748C1-7E59-4692-97C9-7C5E0453BD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3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FEADB45-CD93-76A2-317B-52584824438F}"/>
              </a:ext>
            </a:extLst>
          </p:cNvPr>
          <p:cNvSpPr txBox="1"/>
          <p:nvPr/>
        </p:nvSpPr>
        <p:spPr>
          <a:xfrm>
            <a:off x="2147689" y="759125"/>
            <a:ext cx="7896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err="1"/>
              <a:t>Wildlife</a:t>
            </a:r>
            <a:r>
              <a:rPr lang="fr-FR" sz="5400" b="1" dirty="0"/>
              <a:t> </a:t>
            </a:r>
            <a:r>
              <a:rPr lang="fr-FR" sz="5400" b="1" dirty="0" err="1"/>
              <a:t>tracking</a:t>
            </a:r>
            <a:r>
              <a:rPr lang="fr-FR" sz="5400" b="1" dirty="0"/>
              <a:t> </a:t>
            </a:r>
            <a:r>
              <a:rPr lang="fr-FR" sz="5400" b="1" dirty="0" err="1"/>
              <a:t>project</a:t>
            </a:r>
            <a:endParaRPr lang="fr-FR" sz="54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A2AF0E-6786-277E-43E8-AE488C7EF46C}"/>
              </a:ext>
            </a:extLst>
          </p:cNvPr>
          <p:cNvSpPr txBox="1"/>
          <p:nvPr/>
        </p:nvSpPr>
        <p:spPr>
          <a:xfrm>
            <a:off x="3122763" y="1682455"/>
            <a:ext cx="526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/>
              <a:t>Extracting</a:t>
            </a:r>
            <a:r>
              <a:rPr lang="fr-FR" sz="2400" dirty="0"/>
              <a:t> </a:t>
            </a:r>
            <a:r>
              <a:rPr lang="fr-FR" sz="2400" dirty="0" err="1"/>
              <a:t>bear</a:t>
            </a:r>
            <a:r>
              <a:rPr lang="fr-FR" sz="2400" dirty="0"/>
              <a:t> </a:t>
            </a:r>
            <a:r>
              <a:rPr lang="fr-FR" sz="2400" dirty="0" err="1"/>
              <a:t>pictures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emails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56B08FC-D253-1F28-090E-145C7E87C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763" y="4836682"/>
            <a:ext cx="5760720" cy="10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35E6E9D-A179-6E22-C229-C8654900B5F5}"/>
              </a:ext>
            </a:extLst>
          </p:cNvPr>
          <p:cNvSpPr txBox="1"/>
          <p:nvPr/>
        </p:nvSpPr>
        <p:spPr>
          <a:xfrm>
            <a:off x="3307368" y="6098875"/>
            <a:ext cx="5391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Internship</a:t>
            </a:r>
            <a:r>
              <a:rPr lang="fr-FR" dirty="0"/>
              <a:t> date : 14th </a:t>
            </a:r>
            <a:r>
              <a:rPr lang="fr-FR" dirty="0" err="1"/>
              <a:t>December</a:t>
            </a:r>
            <a:r>
              <a:rPr lang="fr-FR" dirty="0"/>
              <a:t> – 13th </a:t>
            </a:r>
            <a:r>
              <a:rPr lang="fr-FR" dirty="0" err="1"/>
              <a:t>February</a:t>
            </a:r>
            <a:endParaRPr lang="fr-FR" dirty="0"/>
          </a:p>
        </p:txBody>
      </p:sp>
      <p:sp>
        <p:nvSpPr>
          <p:cNvPr id="8" name="Zone de texte 137">
            <a:extLst>
              <a:ext uri="{FF2B5EF4-FFF2-40B4-BE49-F238E27FC236}">
                <a16:creationId xmlns:a16="http://schemas.microsoft.com/office/drawing/2014/main" id="{A550ED7B-5A4F-242E-C8CF-34408400F566}"/>
              </a:ext>
            </a:extLst>
          </p:cNvPr>
          <p:cNvSpPr txBox="1"/>
          <p:nvPr/>
        </p:nvSpPr>
        <p:spPr>
          <a:xfrm>
            <a:off x="1752611" y="2530906"/>
            <a:ext cx="2895600" cy="145732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CH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Anthony LELCHAT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Ostbayerische Technische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Hochschule Regensburg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Regensburg, Germany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anthony.lelchat@extern.oth-regensburg.de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Zone de texte 2">
            <a:extLst>
              <a:ext uri="{FF2B5EF4-FFF2-40B4-BE49-F238E27FC236}">
                <a16:creationId xmlns:a16="http://schemas.microsoft.com/office/drawing/2014/main" id="{98B13495-2E6F-73E8-852B-5128D9535662}"/>
              </a:ext>
            </a:extLst>
          </p:cNvPr>
          <p:cNvSpPr txBox="1"/>
          <p:nvPr/>
        </p:nvSpPr>
        <p:spPr>
          <a:xfrm>
            <a:off x="7200180" y="2530906"/>
            <a:ext cx="2895600" cy="145732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CH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Jan DÜNNWEBER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Ostbayerische Technische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Hochschule Regensburg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Regensburg, Germany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de-CH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jan.duennweber@oth-regensburg.de</a:t>
            </a:r>
            <a:endParaRPr lang="fr-FR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13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BB98685-34EB-D1CF-C052-1EE6C5C86170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Introduction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1DC8CC-10B9-31EA-1F7B-50DC7D11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" y="1690664"/>
            <a:ext cx="4757814" cy="416253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0BD5E29-33A2-E106-D1DA-A277F14D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63"/>
            <a:ext cx="5080379" cy="416253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23A0D57-4829-F28D-7FCE-D5AEB6A54E4C}"/>
              </a:ext>
            </a:extLst>
          </p:cNvPr>
          <p:cNvSpPr txBox="1"/>
          <p:nvPr/>
        </p:nvSpPr>
        <p:spPr>
          <a:xfrm>
            <a:off x="638354" y="1044333"/>
            <a:ext cx="5080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Climate</a:t>
            </a:r>
            <a:r>
              <a:rPr lang="fr-FR" dirty="0"/>
              <a:t> change </a:t>
            </a:r>
            <a:r>
              <a:rPr lang="fr-FR" dirty="0" err="1"/>
              <a:t>effect</a:t>
            </a:r>
            <a:r>
              <a:rPr lang="fr-FR" dirty="0"/>
              <a:t> (</a:t>
            </a:r>
            <a:r>
              <a:rPr lang="fr-FR" dirty="0" err="1"/>
              <a:t>food</a:t>
            </a:r>
            <a:r>
              <a:rPr lang="fr-FR" dirty="0"/>
              <a:t>, hibernation).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Existing</a:t>
            </a:r>
            <a:r>
              <a:rPr lang="fr-FR" dirty="0"/>
              <a:t> solutions like cameras.</a:t>
            </a:r>
          </a:p>
        </p:txBody>
      </p:sp>
    </p:spTree>
    <p:extLst>
      <p:ext uri="{BB962C8B-B14F-4D97-AF65-F5344CB8AC3E}">
        <p14:creationId xmlns:p14="http://schemas.microsoft.com/office/powerpoint/2010/main" val="258294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3927C5-6F25-C156-A904-97A693AD5C15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7DDDA-8148-DB11-3384-16D2FF8E7CAE}"/>
              </a:ext>
            </a:extLst>
          </p:cNvPr>
          <p:cNvSpPr txBox="1"/>
          <p:nvPr/>
        </p:nvSpPr>
        <p:spPr>
          <a:xfrm>
            <a:off x="638355" y="1009827"/>
            <a:ext cx="508037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Presentation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Functionalities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Contribution to the </a:t>
            </a:r>
            <a:r>
              <a:rPr lang="fr-FR" sz="2000" dirty="0" err="1"/>
              <a:t>existing</a:t>
            </a:r>
            <a:r>
              <a:rPr lang="fr-FR" sz="2000" dirty="0"/>
              <a:t> system.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Possible </a:t>
            </a:r>
            <a:r>
              <a:rPr lang="fr-FR" sz="2000" dirty="0" err="1"/>
              <a:t>improvement</a:t>
            </a:r>
            <a:r>
              <a:rPr lang="fr-FR" sz="2000" dirty="0"/>
              <a:t> to the system</a:t>
            </a:r>
          </a:p>
        </p:txBody>
      </p:sp>
    </p:spTree>
    <p:extLst>
      <p:ext uri="{BB962C8B-B14F-4D97-AF65-F5344CB8AC3E}">
        <p14:creationId xmlns:p14="http://schemas.microsoft.com/office/powerpoint/2010/main" val="332810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3927C5-6F25-C156-A904-97A693AD5C15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7DDDA-8148-DB11-3384-16D2FF8E7CAE}"/>
              </a:ext>
            </a:extLst>
          </p:cNvPr>
          <p:cNvSpPr txBox="1"/>
          <p:nvPr/>
        </p:nvSpPr>
        <p:spPr>
          <a:xfrm>
            <a:off x="638355" y="1009827"/>
            <a:ext cx="508037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b="1" dirty="0" err="1"/>
              <a:t>Presentation</a:t>
            </a:r>
            <a:r>
              <a:rPr lang="fr-FR" sz="2000" b="1" dirty="0"/>
              <a:t> of the </a:t>
            </a:r>
            <a:r>
              <a:rPr lang="fr-FR" sz="2000" b="1" dirty="0" err="1"/>
              <a:t>project</a:t>
            </a:r>
            <a:r>
              <a:rPr lang="fr-FR" sz="2000" b="1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Functionalities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Contribution to the </a:t>
            </a:r>
            <a:r>
              <a:rPr lang="fr-FR" sz="2000" dirty="0" err="1"/>
              <a:t>existing</a:t>
            </a:r>
            <a:r>
              <a:rPr lang="fr-FR" sz="2000" dirty="0"/>
              <a:t> system.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Possible </a:t>
            </a:r>
            <a:r>
              <a:rPr lang="fr-FR" sz="2000" dirty="0" err="1"/>
              <a:t>improvement</a:t>
            </a:r>
            <a:r>
              <a:rPr lang="fr-FR" sz="2000" dirty="0"/>
              <a:t>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390949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74A4D7-E15C-FC5B-0255-3D23BC205420}"/>
              </a:ext>
            </a:extLst>
          </p:cNvPr>
          <p:cNvSpPr txBox="1"/>
          <p:nvPr/>
        </p:nvSpPr>
        <p:spPr>
          <a:xfrm>
            <a:off x="638354" y="405745"/>
            <a:ext cx="884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Presentation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How the </a:t>
            </a:r>
            <a:r>
              <a:rPr lang="fr-FR" sz="2400" b="1" dirty="0" err="1"/>
              <a:t>project</a:t>
            </a:r>
            <a:r>
              <a:rPr lang="fr-FR" sz="2400" b="1" dirty="0"/>
              <a:t> </a:t>
            </a:r>
            <a:r>
              <a:rPr lang="fr-FR" sz="2400" b="1" dirty="0" err="1"/>
              <a:t>works</a:t>
            </a:r>
            <a:r>
              <a:rPr lang="fr-FR" sz="2400" b="1" dirty="0"/>
              <a:t> (Romania).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CED8F0-E6C6-A5CB-D1ED-ACFE8613C161}"/>
              </a:ext>
            </a:extLst>
          </p:cNvPr>
          <p:cNvSpPr txBox="1"/>
          <p:nvPr/>
        </p:nvSpPr>
        <p:spPr>
          <a:xfrm>
            <a:off x="638354" y="1044333"/>
            <a:ext cx="5080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Tracking</a:t>
            </a:r>
            <a:r>
              <a:rPr lang="fr-FR" dirty="0"/>
              <a:t> the </a:t>
            </a:r>
            <a:r>
              <a:rPr lang="fr-FR" dirty="0" err="1"/>
              <a:t>brown</a:t>
            </a:r>
            <a:r>
              <a:rPr lang="fr-FR" dirty="0"/>
              <a:t> </a:t>
            </a:r>
            <a:r>
              <a:rPr lang="fr-FR" dirty="0" err="1"/>
              <a:t>bears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Romanian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13 </a:t>
            </a:r>
            <a:r>
              <a:rPr lang="fr-FR" dirty="0" err="1"/>
              <a:t>brown</a:t>
            </a:r>
            <a:r>
              <a:rPr lang="fr-FR" dirty="0"/>
              <a:t> </a:t>
            </a:r>
            <a:r>
              <a:rPr lang="fr-FR" dirty="0" err="1"/>
              <a:t>bears</a:t>
            </a:r>
            <a:r>
              <a:rPr lang="fr-FR" dirty="0"/>
              <a:t> (2011-2015)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60 000 GPS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Hourly</a:t>
            </a:r>
            <a:r>
              <a:rPr lang="fr-FR" dirty="0"/>
              <a:t> </a:t>
            </a:r>
            <a:r>
              <a:rPr lang="fr-FR" dirty="0" err="1"/>
              <a:t>tracking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Mix of forest, meadows, steep terrain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Bears vary in age, sex &amp; seasonal behavior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C33295-2CAF-C561-E3A9-FDDB87CD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44333"/>
            <a:ext cx="5410955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2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74A4D7-E15C-FC5B-0255-3D23BC205420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Presentation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How the </a:t>
            </a:r>
            <a:r>
              <a:rPr lang="fr-FR" sz="2400" b="1" dirty="0" err="1"/>
              <a:t>project</a:t>
            </a:r>
            <a:r>
              <a:rPr lang="fr-FR" sz="2400" b="1" dirty="0"/>
              <a:t> </a:t>
            </a:r>
            <a:r>
              <a:rPr lang="fr-FR" sz="2400" b="1" dirty="0" err="1"/>
              <a:t>works</a:t>
            </a:r>
            <a:r>
              <a:rPr lang="fr-FR" sz="2400" b="1" dirty="0"/>
              <a:t> (Japan).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CED8F0-E6C6-A5CB-D1ED-ACFE8613C161}"/>
              </a:ext>
            </a:extLst>
          </p:cNvPr>
          <p:cNvSpPr txBox="1"/>
          <p:nvPr/>
        </p:nvSpPr>
        <p:spPr>
          <a:xfrm>
            <a:off x="638354" y="1044333"/>
            <a:ext cx="5080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Tracking</a:t>
            </a:r>
            <a:r>
              <a:rPr lang="fr-FR" dirty="0"/>
              <a:t> the black </a:t>
            </a:r>
            <a:r>
              <a:rPr lang="fr-FR" dirty="0" err="1"/>
              <a:t>bears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Cameras placed in rural and semi-mountain areas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Cameras </a:t>
            </a:r>
            <a:r>
              <a:rPr lang="fr-FR" dirty="0" err="1"/>
              <a:t>connected</a:t>
            </a:r>
            <a:r>
              <a:rPr lang="fr-FR" dirty="0"/>
              <a:t> to Raspberry Pi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send</a:t>
            </a:r>
            <a:r>
              <a:rPr lang="fr-FR" dirty="0"/>
              <a:t> </a:t>
            </a:r>
            <a:r>
              <a:rPr lang="fr-FR" dirty="0" err="1"/>
              <a:t>pictures</a:t>
            </a:r>
            <a:r>
              <a:rPr lang="fr-FR" dirty="0"/>
              <a:t> by emails.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4D94990-6D48-0DD4-FE97-1A4563466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782" y="1044333"/>
            <a:ext cx="5752465" cy="4525721"/>
          </a:xfrm>
          <a:prstGeom prst="rect">
            <a:avLst/>
          </a:prstGeom>
          <a:noFill/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DDC4E2-7AE6-63FE-CC89-8B9AE3589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8" y="2950234"/>
            <a:ext cx="5255862" cy="261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0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74A4D7-E15C-FC5B-0255-3D23BC205420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Presentation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How the </a:t>
            </a:r>
            <a:r>
              <a:rPr lang="fr-FR" sz="2400" b="1" dirty="0" err="1"/>
              <a:t>project</a:t>
            </a:r>
            <a:r>
              <a:rPr lang="fr-FR" sz="2400" b="1" dirty="0"/>
              <a:t> </a:t>
            </a:r>
            <a:r>
              <a:rPr lang="fr-FR" sz="2400" b="1" dirty="0" err="1"/>
              <a:t>works</a:t>
            </a:r>
            <a:r>
              <a:rPr lang="fr-FR" sz="2400" b="1" dirty="0"/>
              <a:t> (Japan).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CED8F0-E6C6-A5CB-D1ED-ACFE8613C161}"/>
              </a:ext>
            </a:extLst>
          </p:cNvPr>
          <p:cNvSpPr txBox="1"/>
          <p:nvPr/>
        </p:nvSpPr>
        <p:spPr>
          <a:xfrm>
            <a:off x="638355" y="1044333"/>
            <a:ext cx="431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Camera </a:t>
            </a:r>
            <a:r>
              <a:rPr lang="fr-FR" dirty="0" err="1"/>
              <a:t>gives</a:t>
            </a:r>
            <a:r>
              <a:rPr lang="fr-FR" dirty="0"/>
              <a:t> </a:t>
            </a:r>
            <a:r>
              <a:rPr lang="fr-FR" dirty="0" err="1"/>
              <a:t>statistics</a:t>
            </a:r>
            <a:r>
              <a:rPr lang="fr-FR" dirty="0"/>
              <a:t> on the </a:t>
            </a:r>
            <a:r>
              <a:rPr lang="fr-FR" dirty="0" err="1"/>
              <a:t>wildlifes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Monthly</a:t>
            </a:r>
            <a:r>
              <a:rPr lang="fr-FR" dirty="0"/>
              <a:t> and </a:t>
            </a:r>
            <a:r>
              <a:rPr lang="fr-FR" dirty="0" err="1"/>
              <a:t>hourly</a:t>
            </a:r>
            <a:r>
              <a:rPr lang="fr-FR" dirty="0"/>
              <a:t> </a:t>
            </a:r>
            <a:r>
              <a:rPr lang="fr-FR" dirty="0" err="1"/>
              <a:t>sightings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Bears in </a:t>
            </a:r>
            <a:r>
              <a:rPr lang="fr-FR" dirty="0" err="1"/>
              <a:t>blue</a:t>
            </a:r>
            <a:r>
              <a:rPr lang="fr-FR" dirty="0"/>
              <a:t>, </a:t>
            </a:r>
            <a:r>
              <a:rPr lang="fr-FR" dirty="0" err="1"/>
              <a:t>boars</a:t>
            </a:r>
            <a:r>
              <a:rPr lang="fr-FR" dirty="0"/>
              <a:t> in </a:t>
            </a:r>
            <a:r>
              <a:rPr lang="fr-FR" dirty="0" err="1"/>
              <a:t>pink</a:t>
            </a:r>
            <a:r>
              <a:rPr lang="fr-FR" dirty="0"/>
              <a:t> and </a:t>
            </a:r>
            <a:r>
              <a:rPr lang="fr-FR" dirty="0" err="1"/>
              <a:t>deers</a:t>
            </a:r>
            <a:r>
              <a:rPr lang="fr-FR" dirty="0"/>
              <a:t> in orange.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206DE6-5FD9-0FFB-184E-C2AF96F7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435" y="1044333"/>
            <a:ext cx="6679418" cy="502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99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3927C5-6F25-C156-A904-97A693AD5C15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7DDDA-8148-DB11-3384-16D2FF8E7CAE}"/>
              </a:ext>
            </a:extLst>
          </p:cNvPr>
          <p:cNvSpPr txBox="1"/>
          <p:nvPr/>
        </p:nvSpPr>
        <p:spPr>
          <a:xfrm>
            <a:off x="638355" y="1009827"/>
            <a:ext cx="508037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Presentation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b="1" dirty="0" err="1"/>
              <a:t>Functionalities</a:t>
            </a:r>
            <a:r>
              <a:rPr lang="fr-FR" sz="2000" b="1" dirty="0"/>
              <a:t> of the </a:t>
            </a:r>
            <a:r>
              <a:rPr lang="fr-FR" sz="2000" b="1" dirty="0" err="1"/>
              <a:t>project</a:t>
            </a:r>
            <a:r>
              <a:rPr lang="fr-FR" sz="2000" b="1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Contribution to the </a:t>
            </a:r>
            <a:r>
              <a:rPr lang="fr-FR" sz="2000" dirty="0" err="1"/>
              <a:t>existing</a:t>
            </a:r>
            <a:r>
              <a:rPr lang="fr-FR" sz="2000" dirty="0"/>
              <a:t> system.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Possible </a:t>
            </a:r>
            <a:r>
              <a:rPr lang="fr-FR" sz="2000" dirty="0" err="1"/>
              <a:t>improvement</a:t>
            </a:r>
            <a:r>
              <a:rPr lang="fr-FR" sz="2000" dirty="0"/>
              <a:t>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25363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C654C5-3CBA-BF40-B1E7-0B12393F5DE8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Functionalities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</a:t>
            </a:r>
            <a:r>
              <a:rPr lang="fr-FR" sz="2400" b="1" dirty="0" err="1"/>
              <a:t>Determine</a:t>
            </a:r>
            <a:r>
              <a:rPr lang="fr-FR" sz="2400" b="1" dirty="0"/>
              <a:t> hotspots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3B8379-6883-EB18-2796-3A3A0D116ECE}"/>
              </a:ext>
            </a:extLst>
          </p:cNvPr>
          <p:cNvSpPr txBox="1"/>
          <p:nvPr/>
        </p:nvSpPr>
        <p:spPr>
          <a:xfrm>
            <a:off x="638355" y="1044333"/>
            <a:ext cx="4313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Solitary</a:t>
            </a:r>
            <a:r>
              <a:rPr lang="fr-FR" dirty="0"/>
              <a:t> animal </a:t>
            </a:r>
            <a:r>
              <a:rPr lang="fr-FR" dirty="0" err="1"/>
              <a:t>that</a:t>
            </a:r>
            <a:r>
              <a:rPr lang="fr-FR" dirty="0"/>
              <a:t> tend to </a:t>
            </a:r>
            <a:r>
              <a:rPr lang="fr-FR" dirty="0" err="1"/>
              <a:t>regroup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 Spring to mate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 Summer to </a:t>
            </a:r>
            <a:r>
              <a:rPr lang="fr-FR" dirty="0" err="1"/>
              <a:t>fish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 </a:t>
            </a:r>
            <a:r>
              <a:rPr lang="fr-FR" dirty="0" err="1"/>
              <a:t>Autumn</a:t>
            </a:r>
            <a:r>
              <a:rPr lang="fr-FR" dirty="0"/>
              <a:t> to look for a </a:t>
            </a:r>
            <a:r>
              <a:rPr lang="fr-FR" dirty="0" err="1"/>
              <a:t>safe</a:t>
            </a:r>
            <a:r>
              <a:rPr lang="fr-FR" dirty="0"/>
              <a:t> place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Algorithm</a:t>
            </a:r>
            <a:r>
              <a:rPr lang="fr-FR" dirty="0"/>
              <a:t> of </a:t>
            </a:r>
            <a:r>
              <a:rPr lang="fr-FR" dirty="0" err="1"/>
              <a:t>Weiszfeld</a:t>
            </a:r>
            <a:r>
              <a:rPr lang="fr-FR" dirty="0"/>
              <a:t> for the </a:t>
            </a:r>
            <a:r>
              <a:rPr lang="fr-FR" dirty="0" err="1"/>
              <a:t>geometric</a:t>
            </a:r>
            <a:r>
              <a:rPr lang="fr-FR" dirty="0"/>
              <a:t> </a:t>
            </a:r>
            <a:r>
              <a:rPr lang="fr-FR" dirty="0" err="1"/>
              <a:t>median</a:t>
            </a:r>
            <a:r>
              <a:rPr lang="fr-FR" dirty="0"/>
              <a:t> of a set of points.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9DD8341-867B-DFBD-22F3-0C6FDA66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196" y="1044333"/>
            <a:ext cx="6136728" cy="54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47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C654C5-3CBA-BF40-B1E7-0B12393F5DE8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Functionalities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</a:t>
            </a:r>
            <a:r>
              <a:rPr lang="fr-FR" sz="2400" b="1" dirty="0" err="1"/>
              <a:t>Determine</a:t>
            </a:r>
            <a:r>
              <a:rPr lang="fr-FR" sz="2400" b="1" dirty="0"/>
              <a:t> hotspots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3B8379-6883-EB18-2796-3A3A0D116ECE}"/>
              </a:ext>
            </a:extLst>
          </p:cNvPr>
          <p:cNvSpPr txBox="1"/>
          <p:nvPr/>
        </p:nvSpPr>
        <p:spPr>
          <a:xfrm>
            <a:off x="638353" y="1027617"/>
            <a:ext cx="46582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 </a:t>
            </a:r>
            <a:r>
              <a:rPr lang="fr-FR" dirty="0" err="1"/>
              <a:t>weight</a:t>
            </a:r>
            <a:r>
              <a:rPr lang="fr-FR" dirty="0"/>
              <a:t> correspond to the influence of a point in the </a:t>
            </a:r>
            <a:r>
              <a:rPr lang="fr-FR" dirty="0" err="1"/>
              <a:t>calculation</a:t>
            </a:r>
            <a:r>
              <a:rPr lang="fr-FR" dirty="0"/>
              <a:t> </a:t>
            </a:r>
            <a:r>
              <a:rPr lang="fr-FR" dirty="0" err="1"/>
              <a:t>reference</a:t>
            </a:r>
            <a:r>
              <a:rPr lang="fr-FR" dirty="0"/>
              <a:t>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Every</a:t>
            </a:r>
            <a:r>
              <a:rPr lang="fr-FR" dirty="0"/>
              <a:t> point </a:t>
            </a:r>
            <a:r>
              <a:rPr lang="fr-FR" dirty="0" err="1"/>
              <a:t>receive</a:t>
            </a:r>
            <a:r>
              <a:rPr lang="fr-FR" dirty="0"/>
              <a:t> a </a:t>
            </a:r>
            <a:r>
              <a:rPr lang="fr-FR" dirty="0" err="1"/>
              <a:t>weight</a:t>
            </a:r>
            <a:r>
              <a:rPr lang="fr-FR" dirty="0"/>
              <a:t> (1/distance)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 short distance to the </a:t>
            </a:r>
            <a:r>
              <a:rPr lang="fr-FR" dirty="0" err="1"/>
              <a:t>reference</a:t>
            </a:r>
            <a:r>
              <a:rPr lang="fr-FR" dirty="0"/>
              <a:t> point </a:t>
            </a:r>
            <a:r>
              <a:rPr lang="fr-FR" dirty="0" err="1"/>
              <a:t>equals</a:t>
            </a:r>
            <a:r>
              <a:rPr lang="fr-FR" dirty="0"/>
              <a:t> to a high </a:t>
            </a:r>
            <a:r>
              <a:rPr lang="fr-FR" dirty="0" err="1"/>
              <a:t>weight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14E44E5-F9AC-C77F-9748-EF5379FA6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718" y="1027617"/>
            <a:ext cx="6066976" cy="576838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5D4DB45-FA75-946D-CAFE-C67F2170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07" y="2665152"/>
            <a:ext cx="4244898" cy="80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4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C654C5-3CBA-BF40-B1E7-0B12393F5DE8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Functionalities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</a:t>
            </a:r>
            <a:r>
              <a:rPr lang="fr-FR" sz="2400" b="1" dirty="0" err="1"/>
              <a:t>Determine</a:t>
            </a:r>
            <a:r>
              <a:rPr lang="fr-FR" sz="2400" b="1" dirty="0"/>
              <a:t> hotspots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3B8379-6883-EB18-2796-3A3A0D116ECE}"/>
              </a:ext>
            </a:extLst>
          </p:cNvPr>
          <p:cNvSpPr txBox="1"/>
          <p:nvPr/>
        </p:nvSpPr>
        <p:spPr>
          <a:xfrm>
            <a:off x="638354" y="1027617"/>
            <a:ext cx="4442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Insignificant</a:t>
            </a:r>
            <a:r>
              <a:rPr lang="fr-FR" dirty="0"/>
              <a:t> distance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reference</a:t>
            </a:r>
            <a:r>
              <a:rPr lang="fr-FR" dirty="0"/>
              <a:t> point </a:t>
            </a:r>
            <a:r>
              <a:rPr lang="fr-FR" dirty="0" err="1"/>
              <a:t>equals</a:t>
            </a:r>
            <a:r>
              <a:rPr lang="fr-FR" dirty="0"/>
              <a:t> to a hotspot.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8" name="Image 7" descr="Une image contenant capture d’écran, vert&#10;&#10;Le contenu généré par l’IA peut être incorrect.">
            <a:extLst>
              <a:ext uri="{FF2B5EF4-FFF2-40B4-BE49-F238E27FC236}">
                <a16:creationId xmlns:a16="http://schemas.microsoft.com/office/drawing/2014/main" id="{11815FEF-A5C0-D0DE-03E2-7306341C7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163" y="1884730"/>
            <a:ext cx="9371673" cy="45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3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C654C5-3CBA-BF40-B1E7-0B12393F5DE8}"/>
              </a:ext>
            </a:extLst>
          </p:cNvPr>
          <p:cNvSpPr txBox="1"/>
          <p:nvPr/>
        </p:nvSpPr>
        <p:spPr>
          <a:xfrm>
            <a:off x="638354" y="405745"/>
            <a:ext cx="8341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Functionalities</a:t>
            </a:r>
            <a:r>
              <a:rPr lang="fr-FR" sz="2400" b="1" dirty="0"/>
              <a:t> of the </a:t>
            </a:r>
            <a:r>
              <a:rPr lang="fr-FR" sz="2400" b="1" dirty="0" err="1"/>
              <a:t>project</a:t>
            </a:r>
            <a:r>
              <a:rPr lang="fr-FR" sz="2400" b="1" dirty="0"/>
              <a:t> : </a:t>
            </a:r>
            <a:r>
              <a:rPr lang="fr-FR" sz="2400" b="1" dirty="0" err="1"/>
              <a:t>Determine</a:t>
            </a:r>
            <a:r>
              <a:rPr lang="fr-FR" sz="2400" b="1" dirty="0"/>
              <a:t> </a:t>
            </a:r>
            <a:r>
              <a:rPr lang="fr-FR" sz="2400" b="1" dirty="0" err="1"/>
              <a:t>bear</a:t>
            </a:r>
            <a:r>
              <a:rPr lang="fr-FR" sz="2400" b="1" dirty="0"/>
              <a:t> </a:t>
            </a:r>
            <a:r>
              <a:rPr lang="fr-FR" sz="2400" b="1" dirty="0" err="1"/>
              <a:t>path</a:t>
            </a:r>
            <a:endParaRPr lang="fr-FR" sz="24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3B8379-6883-EB18-2796-3A3A0D116ECE}"/>
              </a:ext>
            </a:extLst>
          </p:cNvPr>
          <p:cNvSpPr txBox="1"/>
          <p:nvPr/>
        </p:nvSpPr>
        <p:spPr>
          <a:xfrm>
            <a:off x="638353" y="1027617"/>
            <a:ext cx="63317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AI model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determine</a:t>
            </a:r>
            <a:r>
              <a:rPr lang="fr-FR" dirty="0"/>
              <a:t> </a:t>
            </a:r>
            <a:r>
              <a:rPr lang="fr-FR" dirty="0" err="1"/>
              <a:t>bear</a:t>
            </a:r>
            <a:r>
              <a:rPr lang="fr-FR" dirty="0"/>
              <a:t> </a:t>
            </a:r>
            <a:r>
              <a:rPr lang="fr-FR" dirty="0" err="1"/>
              <a:t>path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factors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terrain type (forest, meadow, slope)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distance and the angle toward hotspots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age and sex of the bears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season and the time of the day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avoidance of steep or open areas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73% </a:t>
            </a:r>
            <a:r>
              <a:rPr lang="fr-FR" dirty="0" err="1"/>
              <a:t>accuracy</a:t>
            </a:r>
            <a:r>
              <a:rPr lang="fr-FR" dirty="0"/>
              <a:t> on </a:t>
            </a:r>
            <a:r>
              <a:rPr lang="fr-FR" dirty="0" err="1"/>
              <a:t>determining</a:t>
            </a:r>
            <a:r>
              <a:rPr lang="fr-FR" dirty="0"/>
              <a:t> </a:t>
            </a:r>
            <a:r>
              <a:rPr lang="fr-FR" dirty="0" err="1"/>
              <a:t>bear</a:t>
            </a:r>
            <a:r>
              <a:rPr lang="fr-FR" dirty="0"/>
              <a:t> </a:t>
            </a:r>
            <a:r>
              <a:rPr lang="fr-FR" dirty="0" err="1"/>
              <a:t>path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Main issue : </a:t>
            </a:r>
            <a:r>
              <a:rPr lang="fr-FR" dirty="0" err="1"/>
              <a:t>Relying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on </a:t>
            </a:r>
            <a:r>
              <a:rPr lang="fr-FR" dirty="0" err="1"/>
              <a:t>historical</a:t>
            </a:r>
            <a:r>
              <a:rPr lang="fr-FR" dirty="0"/>
              <a:t> data for </a:t>
            </a:r>
            <a:r>
              <a:rPr lang="fr-FR" dirty="0" err="1"/>
              <a:t>japanese</a:t>
            </a:r>
            <a:r>
              <a:rPr lang="fr-FR" dirty="0"/>
              <a:t> black </a:t>
            </a:r>
            <a:r>
              <a:rPr lang="fr-FR" dirty="0" err="1"/>
              <a:t>bear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9988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3927C5-6F25-C156-A904-97A693AD5C15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7DDDA-8148-DB11-3384-16D2FF8E7CAE}"/>
              </a:ext>
            </a:extLst>
          </p:cNvPr>
          <p:cNvSpPr txBox="1"/>
          <p:nvPr/>
        </p:nvSpPr>
        <p:spPr>
          <a:xfrm>
            <a:off x="638355" y="1009827"/>
            <a:ext cx="508037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Presentation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Functionalities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b="1" dirty="0"/>
              <a:t>Contribution to the </a:t>
            </a:r>
            <a:r>
              <a:rPr lang="fr-FR" sz="2000" b="1" dirty="0" err="1"/>
              <a:t>existing</a:t>
            </a:r>
            <a:r>
              <a:rPr lang="fr-FR" sz="2000" b="1" dirty="0"/>
              <a:t> system.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Possible </a:t>
            </a:r>
            <a:r>
              <a:rPr lang="fr-FR" sz="2000" dirty="0" err="1"/>
              <a:t>improvement</a:t>
            </a:r>
            <a:r>
              <a:rPr lang="fr-FR" sz="2000" dirty="0"/>
              <a:t>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1887266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EBC948-0311-D7BC-3DE5-407D4AD9AE51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Project Architecture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40F52C-E0BE-5EE9-15FE-D9CB5F0EACC3}"/>
              </a:ext>
            </a:extLst>
          </p:cNvPr>
          <p:cNvSpPr txBox="1"/>
          <p:nvPr/>
        </p:nvSpPr>
        <p:spPr>
          <a:xfrm>
            <a:off x="638353" y="1052422"/>
            <a:ext cx="62282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Backend</a:t>
            </a:r>
          </a:p>
          <a:p>
            <a:r>
              <a:rPr lang="fr-FR" dirty="0"/>
              <a:t>Python for </a:t>
            </a:r>
            <a:r>
              <a:rPr lang="fr-FR" dirty="0" err="1"/>
              <a:t>acquiring</a:t>
            </a:r>
            <a:r>
              <a:rPr lang="fr-FR" dirty="0"/>
              <a:t> and </a:t>
            </a:r>
            <a:r>
              <a:rPr lang="fr-FR" dirty="0" err="1"/>
              <a:t>processing</a:t>
            </a:r>
            <a:r>
              <a:rPr lang="fr-FR" dirty="0"/>
              <a:t> data, </a:t>
            </a:r>
            <a:r>
              <a:rPr lang="fr-FR" dirty="0" err="1"/>
              <a:t>doing</a:t>
            </a:r>
            <a:r>
              <a:rPr lang="fr-FR" dirty="0"/>
              <a:t> simulation…</a:t>
            </a:r>
          </a:p>
          <a:p>
            <a:endParaRPr lang="fr-FR" b="1" dirty="0"/>
          </a:p>
          <a:p>
            <a:r>
              <a:rPr lang="fr-FR" b="1" dirty="0" err="1"/>
              <a:t>Database</a:t>
            </a:r>
            <a:endParaRPr lang="fr-FR" b="1" dirty="0"/>
          </a:p>
          <a:p>
            <a:r>
              <a:rPr lang="fr-FR" dirty="0" err="1"/>
              <a:t>MariaDB</a:t>
            </a:r>
            <a:r>
              <a:rPr lang="fr-FR" dirty="0"/>
              <a:t> to store </a:t>
            </a:r>
            <a:r>
              <a:rPr lang="fr-FR" dirty="0" err="1"/>
              <a:t>bear</a:t>
            </a:r>
            <a:r>
              <a:rPr lang="fr-FR" dirty="0"/>
              <a:t> data, camera location, hotspots…</a:t>
            </a:r>
          </a:p>
          <a:p>
            <a:endParaRPr lang="fr-FR" b="1" dirty="0"/>
          </a:p>
          <a:p>
            <a:r>
              <a:rPr lang="fr-FR" b="1" dirty="0"/>
              <a:t>Frontend</a:t>
            </a:r>
          </a:p>
          <a:p>
            <a:r>
              <a:rPr lang="fr-FR" dirty="0" err="1"/>
              <a:t>Streamlit</a:t>
            </a:r>
            <a:r>
              <a:rPr lang="fr-FR" dirty="0"/>
              <a:t> (Python </a:t>
            </a:r>
            <a:r>
              <a:rPr lang="fr-FR" dirty="0" err="1"/>
              <a:t>framework</a:t>
            </a:r>
            <a:r>
              <a:rPr lang="fr-FR" dirty="0"/>
              <a:t>) to show </a:t>
            </a:r>
            <a:r>
              <a:rPr lang="fr-FR" dirty="0" err="1"/>
              <a:t>wildlife</a:t>
            </a:r>
            <a:r>
              <a:rPr lang="fr-FR" dirty="0"/>
              <a:t> data (</a:t>
            </a:r>
            <a:r>
              <a:rPr lang="fr-FR" dirty="0" err="1"/>
              <a:t>pictures</a:t>
            </a:r>
            <a:r>
              <a:rPr lang="fr-FR" dirty="0"/>
              <a:t>, camera location)</a:t>
            </a:r>
          </a:p>
        </p:txBody>
      </p:sp>
      <p:pic>
        <p:nvPicPr>
          <p:cNvPr id="1026" name="Picture 2" descr="Streamlit: Build a Web App in minutes - Flowygo">
            <a:extLst>
              <a:ext uri="{FF2B5EF4-FFF2-40B4-BE49-F238E27FC236}">
                <a16:creationId xmlns:a16="http://schemas.microsoft.com/office/drawing/2014/main" id="{5D4433E8-0D5F-0E27-7C11-94A0D2052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354" y="3985884"/>
            <a:ext cx="3493697" cy="204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gramming with Python - Accredited Institute of Information Technology -  Mauritius">
            <a:extLst>
              <a:ext uri="{FF2B5EF4-FFF2-40B4-BE49-F238E27FC236}">
                <a16:creationId xmlns:a16="http://schemas.microsoft.com/office/drawing/2014/main" id="{BA69BBE5-381F-A0A3-4F20-5E67B5681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354" y="748884"/>
            <a:ext cx="3493697" cy="196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RDS for MariaDB – Amazon Web Services (AWS)">
            <a:extLst>
              <a:ext uri="{FF2B5EF4-FFF2-40B4-BE49-F238E27FC236}">
                <a16:creationId xmlns:a16="http://schemas.microsoft.com/office/drawing/2014/main" id="{0F851C47-83F2-A0FB-6D77-BEF022AE3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952" y="2595562"/>
            <a:ext cx="32385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315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EBC948-0311-D7BC-3DE5-407D4AD9AE51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</a:t>
            </a:r>
            <a:r>
              <a:rPr lang="fr-FR" sz="2400" b="1" dirty="0" err="1"/>
              <a:t>Accessing</a:t>
            </a:r>
            <a:r>
              <a:rPr lang="fr-FR" sz="2400" b="1" dirty="0"/>
              <a:t> </a:t>
            </a:r>
            <a:r>
              <a:rPr lang="fr-FR" sz="2400" b="1" dirty="0" err="1"/>
              <a:t>inbox</a:t>
            </a:r>
            <a:endParaRPr lang="fr-FR" sz="2400" b="1" dirty="0"/>
          </a:p>
        </p:txBody>
      </p:sp>
      <p:pic>
        <p:nvPicPr>
          <p:cNvPr id="2050" name="Picture 2" descr="Microsoft Graph API | Drupal.org">
            <a:extLst>
              <a:ext uri="{FF2B5EF4-FFF2-40B4-BE49-F238E27FC236}">
                <a16:creationId xmlns:a16="http://schemas.microsoft.com/office/drawing/2014/main" id="{D17449AF-C22F-4636-0CFC-694C2FB6D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147" y="1552216"/>
            <a:ext cx="24384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0CB851E-10E0-C691-8B19-9D374BE0BA23}"/>
              </a:ext>
            </a:extLst>
          </p:cNvPr>
          <p:cNvSpPr txBox="1"/>
          <p:nvPr/>
        </p:nvSpPr>
        <p:spPr>
          <a:xfrm>
            <a:off x="776377" y="1207698"/>
            <a:ext cx="70995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Access to a </a:t>
            </a:r>
            <a:r>
              <a:rPr lang="fr-FR" dirty="0" err="1"/>
              <a:t>shared</a:t>
            </a:r>
            <a:r>
              <a:rPr lang="fr-FR" dirty="0"/>
              <a:t> mail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 few packages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(</a:t>
            </a:r>
            <a:r>
              <a:rPr lang="fr-FR" dirty="0" err="1"/>
              <a:t>exchangelib</a:t>
            </a:r>
            <a:r>
              <a:rPr lang="fr-FR" dirty="0"/>
              <a:t>, Microsoft Graph API and </a:t>
            </a:r>
            <a:r>
              <a:rPr lang="fr-FR" dirty="0" err="1"/>
              <a:t>dbmail</a:t>
            </a:r>
            <a:r>
              <a:rPr lang="fr-F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dbmail</a:t>
            </a:r>
            <a:r>
              <a:rPr lang="fr-FR" dirty="0"/>
              <a:t> </a:t>
            </a:r>
            <a:r>
              <a:rPr lang="fr-FR" dirty="0" err="1"/>
              <a:t>doesn’t</a:t>
            </a:r>
            <a:r>
              <a:rPr lang="fr-FR" dirty="0"/>
              <a:t> support </a:t>
            </a:r>
            <a:r>
              <a:rPr lang="fr-FR" dirty="0" err="1"/>
              <a:t>shared</a:t>
            </a:r>
            <a:r>
              <a:rPr lang="fr-FR" dirty="0"/>
              <a:t> mail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OAuth2 </a:t>
            </a:r>
            <a:r>
              <a:rPr lang="fr-FR" dirty="0" err="1"/>
              <a:t>credentials</a:t>
            </a:r>
            <a:r>
              <a:rPr lang="fr-FR" dirty="0"/>
              <a:t> and Azure Portal </a:t>
            </a:r>
            <a:r>
              <a:rPr lang="fr-FR" dirty="0" err="1"/>
              <a:t>created</a:t>
            </a:r>
            <a:r>
              <a:rPr lang="fr-FR" dirty="0"/>
              <a:t>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Exchangelib</a:t>
            </a:r>
            <a:r>
              <a:rPr lang="fr-FR" dirty="0"/>
              <a:t> </a:t>
            </a:r>
            <a:r>
              <a:rPr lang="fr-FR" dirty="0" err="1"/>
              <a:t>require</a:t>
            </a:r>
            <a:r>
              <a:rPr lang="fr-FR" dirty="0"/>
              <a:t> a </a:t>
            </a:r>
            <a:r>
              <a:rPr lang="fr-FR" dirty="0" err="1"/>
              <a:t>complex</a:t>
            </a:r>
            <a:r>
              <a:rPr lang="fr-FR" dirty="0"/>
              <a:t> configuration and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deprecated</a:t>
            </a:r>
            <a:r>
              <a:rPr lang="fr-F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Microsoft Graph API </a:t>
            </a:r>
            <a:r>
              <a:rPr lang="fr-FR" dirty="0" err="1"/>
              <a:t>remains</a:t>
            </a:r>
            <a:r>
              <a:rPr lang="fr-FR" dirty="0"/>
              <a:t> the best solution (REST API </a:t>
            </a:r>
            <a:r>
              <a:rPr lang="fr-FR" dirty="0" err="1"/>
              <a:t>with</a:t>
            </a:r>
            <a:r>
              <a:rPr lang="fr-FR" dirty="0"/>
              <a:t> a minimal configuration on Azure Portal)</a:t>
            </a:r>
          </a:p>
        </p:txBody>
      </p:sp>
    </p:spTree>
    <p:extLst>
      <p:ext uri="{BB962C8B-B14F-4D97-AF65-F5344CB8AC3E}">
        <p14:creationId xmlns:p14="http://schemas.microsoft.com/office/powerpoint/2010/main" val="338673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EBC948-0311-D7BC-3DE5-407D4AD9AE51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</a:t>
            </a:r>
            <a:r>
              <a:rPr lang="fr-FR" sz="2400" b="1" dirty="0" err="1"/>
              <a:t>Parsing</a:t>
            </a:r>
            <a:r>
              <a:rPr lang="fr-FR" sz="2400" b="1" dirty="0"/>
              <a:t> </a:t>
            </a:r>
            <a:r>
              <a:rPr lang="fr-FR" sz="2400" b="1" dirty="0" err="1"/>
              <a:t>pictures</a:t>
            </a:r>
            <a:endParaRPr lang="fr-FR" sz="24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CB851E-10E0-C691-8B19-9D374BE0BA23}"/>
              </a:ext>
            </a:extLst>
          </p:cNvPr>
          <p:cNvSpPr txBox="1"/>
          <p:nvPr/>
        </p:nvSpPr>
        <p:spPr>
          <a:xfrm>
            <a:off x="776377" y="1207698"/>
            <a:ext cx="51672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Important information for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pictures</a:t>
            </a:r>
            <a:r>
              <a:rPr lang="fr-FR" dirty="0"/>
              <a:t> (type of animal, timestamp and camera identifier)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Two</a:t>
            </a:r>
            <a:r>
              <a:rPr lang="fr-FR" dirty="0"/>
              <a:t> packages </a:t>
            </a:r>
            <a:r>
              <a:rPr lang="fr-FR" dirty="0" err="1"/>
              <a:t>considered</a:t>
            </a:r>
            <a:r>
              <a:rPr lang="fr-FR" dirty="0"/>
              <a:t> to parse images (</a:t>
            </a:r>
            <a:r>
              <a:rPr lang="fr-FR" dirty="0" err="1"/>
              <a:t>pytesseract</a:t>
            </a:r>
            <a:r>
              <a:rPr lang="fr-FR" dirty="0"/>
              <a:t> and </a:t>
            </a:r>
            <a:r>
              <a:rPr lang="fr-FR" dirty="0" err="1"/>
              <a:t>easyOCR</a:t>
            </a:r>
            <a:r>
              <a:rPr lang="fr-F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pytesseract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light but </a:t>
            </a:r>
            <a:r>
              <a:rPr lang="fr-FR" dirty="0" err="1"/>
              <a:t>need</a:t>
            </a:r>
            <a:r>
              <a:rPr lang="fr-FR" dirty="0"/>
              <a:t> a </a:t>
            </a:r>
            <a:r>
              <a:rPr lang="fr-FR" dirty="0" err="1"/>
              <a:t>complete</a:t>
            </a:r>
            <a:r>
              <a:rPr lang="fr-FR" dirty="0"/>
              <a:t> and </a:t>
            </a:r>
            <a:r>
              <a:rPr lang="fr-FR" dirty="0" err="1"/>
              <a:t>detailed</a:t>
            </a:r>
            <a:r>
              <a:rPr lang="fr-FR" dirty="0"/>
              <a:t> configuration (</a:t>
            </a:r>
            <a:r>
              <a:rPr lang="fr-FR" dirty="0" err="1"/>
              <a:t>parsing</a:t>
            </a:r>
            <a:r>
              <a:rPr lang="fr-FR" dirty="0"/>
              <a:t> issues)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easyOCR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heavy</a:t>
            </a:r>
            <a:r>
              <a:rPr lang="fr-FR" dirty="0"/>
              <a:t> but </a:t>
            </a:r>
            <a:r>
              <a:rPr lang="fr-FR" dirty="0" err="1"/>
              <a:t>very</a:t>
            </a:r>
            <a:r>
              <a:rPr lang="fr-FR" dirty="0"/>
              <a:t>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EasyOCR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 adaptative package to use.</a:t>
            </a:r>
          </a:p>
        </p:txBody>
      </p:sp>
      <p:pic>
        <p:nvPicPr>
          <p:cNvPr id="6" name="Image 5" descr="Une image contenant plein air, arbre, sol, mammifère&#10;&#10;Le contenu généré par l’IA peut être incorrect.">
            <a:extLst>
              <a:ext uri="{FF2B5EF4-FFF2-40B4-BE49-F238E27FC236}">
                <a16:creationId xmlns:a16="http://schemas.microsoft.com/office/drawing/2014/main" id="{89CEE7C4-9561-B18A-09B0-B31AFAA03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7697"/>
            <a:ext cx="5831457" cy="437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5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EBC948-0311-D7BC-3DE5-407D4AD9AE51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</a:t>
            </a:r>
            <a:r>
              <a:rPr lang="fr-FR" sz="2400" b="1" dirty="0" err="1"/>
              <a:t>Storing</a:t>
            </a:r>
            <a:r>
              <a:rPr lang="fr-FR" sz="2400" b="1" dirty="0"/>
              <a:t> </a:t>
            </a:r>
            <a:r>
              <a:rPr lang="fr-FR" sz="2400" b="1" dirty="0" err="1"/>
              <a:t>pictures</a:t>
            </a:r>
            <a:endParaRPr lang="fr-FR" sz="24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CB851E-10E0-C691-8B19-9D374BE0BA23}"/>
              </a:ext>
            </a:extLst>
          </p:cNvPr>
          <p:cNvSpPr txBox="1"/>
          <p:nvPr/>
        </p:nvSpPr>
        <p:spPr>
          <a:xfrm>
            <a:off x="776377" y="1207698"/>
            <a:ext cx="55467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parsed</a:t>
            </a:r>
            <a:r>
              <a:rPr lang="fr-FR" dirty="0"/>
              <a:t>, data are </a:t>
            </a:r>
            <a:r>
              <a:rPr lang="fr-FR" dirty="0" err="1"/>
              <a:t>inserted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database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Pictures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visualized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5396AF-9A23-41E5-4FFD-76400073F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54" y="2578548"/>
            <a:ext cx="10875495" cy="257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4129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EBC948-0311-D7BC-3DE5-407D4AD9AE51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</a:t>
            </a:r>
            <a:r>
              <a:rPr lang="fr-FR" sz="2400" b="1" dirty="0" err="1"/>
              <a:t>Processing</a:t>
            </a:r>
            <a:r>
              <a:rPr lang="fr-FR" sz="2400" b="1" dirty="0"/>
              <a:t> emails and </a:t>
            </a:r>
            <a:r>
              <a:rPr lang="fr-FR" sz="2400" b="1" dirty="0" err="1"/>
              <a:t>pictures</a:t>
            </a:r>
            <a:endParaRPr lang="fr-FR" sz="24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CB851E-10E0-C691-8B19-9D374BE0BA23}"/>
              </a:ext>
            </a:extLst>
          </p:cNvPr>
          <p:cNvSpPr txBox="1"/>
          <p:nvPr/>
        </p:nvSpPr>
        <p:spPr>
          <a:xfrm>
            <a:off x="776377" y="1207698"/>
            <a:ext cx="5546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Processing</a:t>
            </a:r>
            <a:r>
              <a:rPr lang="fr-FR" dirty="0"/>
              <a:t> part use all modules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B3F8353-A812-6155-656E-B418A8896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96" y="1775360"/>
            <a:ext cx="9557072" cy="4801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2970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A32D97A-F972-A119-DB3D-F43A133D13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501" y="2009099"/>
            <a:ext cx="9064997" cy="46474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49BD216-8B39-F496-044C-53D60EA63A32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Contribution to the </a:t>
            </a:r>
            <a:r>
              <a:rPr lang="fr-FR" sz="2400" b="1" dirty="0" err="1"/>
              <a:t>existing</a:t>
            </a:r>
            <a:r>
              <a:rPr lang="fr-FR" sz="2400" b="1" dirty="0"/>
              <a:t> system : </a:t>
            </a:r>
            <a:r>
              <a:rPr lang="fr-FR" sz="2400" b="1" dirty="0" err="1"/>
              <a:t>Adapting</a:t>
            </a:r>
            <a:r>
              <a:rPr lang="fr-FR" sz="2400" b="1" dirty="0"/>
              <a:t> the web interface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BBC731-D152-070B-43C5-A3B0C1CE2D49}"/>
              </a:ext>
            </a:extLst>
          </p:cNvPr>
          <p:cNvSpPr txBox="1"/>
          <p:nvPr/>
        </p:nvSpPr>
        <p:spPr>
          <a:xfrm>
            <a:off x="776377" y="1207698"/>
            <a:ext cx="691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Previous</a:t>
            </a:r>
            <a:r>
              <a:rPr lang="fr-FR" dirty="0"/>
              <a:t> model : </a:t>
            </a:r>
            <a:r>
              <a:rPr lang="fr-FR" dirty="0" err="1"/>
              <a:t>path</a:t>
            </a:r>
            <a:r>
              <a:rPr lang="fr-FR" dirty="0"/>
              <a:t> in </a:t>
            </a:r>
            <a:r>
              <a:rPr lang="fr-FR" dirty="0" err="1"/>
              <a:t>database</a:t>
            </a:r>
            <a:r>
              <a:rPr lang="fr-FR" dirty="0"/>
              <a:t>, </a:t>
            </a:r>
            <a:r>
              <a:rPr lang="fr-FR" dirty="0" err="1"/>
              <a:t>pictures</a:t>
            </a:r>
            <a:r>
              <a:rPr lang="fr-FR" dirty="0"/>
              <a:t> on server file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New model : </a:t>
            </a:r>
            <a:r>
              <a:rPr lang="fr-FR" dirty="0" err="1"/>
              <a:t>pictures</a:t>
            </a:r>
            <a:r>
              <a:rPr lang="fr-FR" dirty="0"/>
              <a:t> as </a:t>
            </a:r>
            <a:r>
              <a:rPr lang="fr-FR" dirty="0" err="1"/>
              <a:t>BLOBs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database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472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3927C5-6F25-C156-A904-97A693AD5C15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B7DDDA-8148-DB11-3384-16D2FF8E7CAE}"/>
              </a:ext>
            </a:extLst>
          </p:cNvPr>
          <p:cNvSpPr txBox="1"/>
          <p:nvPr/>
        </p:nvSpPr>
        <p:spPr>
          <a:xfrm>
            <a:off x="638355" y="1009827"/>
            <a:ext cx="508037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Presentation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 err="1"/>
              <a:t>Functionalities</a:t>
            </a:r>
            <a:r>
              <a:rPr lang="fr-FR" sz="2000" dirty="0"/>
              <a:t> of the </a:t>
            </a:r>
            <a:r>
              <a:rPr lang="fr-FR" sz="2000" dirty="0" err="1"/>
              <a:t>project</a:t>
            </a:r>
            <a:r>
              <a:rPr lang="fr-F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dirty="0"/>
              <a:t>Contribution to the </a:t>
            </a:r>
            <a:r>
              <a:rPr lang="fr-FR" sz="2000" dirty="0" err="1"/>
              <a:t>existing</a:t>
            </a:r>
            <a:r>
              <a:rPr lang="fr-FR" sz="2000" dirty="0"/>
              <a:t> system.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fr-FR" sz="2000" b="1" dirty="0"/>
              <a:t>Possible </a:t>
            </a:r>
            <a:r>
              <a:rPr lang="fr-FR" sz="2000" b="1" dirty="0" err="1"/>
              <a:t>improvement</a:t>
            </a:r>
            <a:r>
              <a:rPr lang="fr-FR" sz="2000" b="1" dirty="0"/>
              <a:t>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3234828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49BD216-8B39-F496-044C-53D60EA63A32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Possible </a:t>
            </a:r>
            <a:r>
              <a:rPr lang="fr-FR" sz="2400" b="1" dirty="0" err="1"/>
              <a:t>improvement</a:t>
            </a:r>
            <a:r>
              <a:rPr lang="fr-FR" sz="2400" b="1" dirty="0"/>
              <a:t> to the system :  Animal </a:t>
            </a:r>
            <a:r>
              <a:rPr lang="fr-FR" sz="2400" b="1" dirty="0" err="1"/>
              <a:t>detection</a:t>
            </a:r>
            <a:r>
              <a:rPr lang="fr-FR" sz="2400" b="1" dirty="0"/>
              <a:t> </a:t>
            </a:r>
            <a:r>
              <a:rPr lang="fr-FR" sz="2400" b="1" dirty="0" err="1"/>
              <a:t>error</a:t>
            </a:r>
            <a:endParaRPr lang="fr-FR" sz="2400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BBC731-D152-070B-43C5-A3B0C1CE2D49}"/>
              </a:ext>
            </a:extLst>
          </p:cNvPr>
          <p:cNvSpPr txBox="1"/>
          <p:nvPr/>
        </p:nvSpPr>
        <p:spPr>
          <a:xfrm>
            <a:off x="776377" y="1207698"/>
            <a:ext cx="4364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Type man </a:t>
            </a:r>
            <a:r>
              <a:rPr lang="fr-FR" dirty="0" err="1"/>
              <a:t>exists</a:t>
            </a:r>
            <a:r>
              <a:rPr lang="fr-FR" dirty="0"/>
              <a:t> but the </a:t>
            </a:r>
            <a:r>
              <a:rPr lang="fr-FR" dirty="0" err="1"/>
              <a:t>pictures</a:t>
            </a:r>
            <a:r>
              <a:rPr lang="fr-FR" dirty="0"/>
              <a:t> </a:t>
            </a:r>
            <a:r>
              <a:rPr lang="fr-FR" dirty="0" err="1"/>
              <a:t>isn’t</a:t>
            </a:r>
            <a:r>
              <a:rPr lang="fr-FR" dirty="0"/>
              <a:t> </a:t>
            </a:r>
            <a:r>
              <a:rPr lang="fr-FR" dirty="0" err="1"/>
              <a:t>recognized</a:t>
            </a:r>
            <a:r>
              <a:rPr lang="fr-FR" dirty="0"/>
              <a:t> </a:t>
            </a:r>
            <a:r>
              <a:rPr lang="fr-FR" dirty="0" err="1"/>
              <a:t>correctly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Lead to </a:t>
            </a:r>
            <a:r>
              <a:rPr lang="fr-FR" dirty="0" err="1"/>
              <a:t>inconsistency</a:t>
            </a:r>
            <a:r>
              <a:rPr lang="fr-FR" dirty="0"/>
              <a:t> in the </a:t>
            </a:r>
            <a:r>
              <a:rPr lang="fr-FR" dirty="0" err="1"/>
              <a:t>database</a:t>
            </a:r>
            <a:r>
              <a:rPr lang="fr-FR" dirty="0"/>
              <a:t>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C443E9A-BECF-106F-D3A7-9490368D8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693" y="1207698"/>
            <a:ext cx="6449275" cy="48369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8832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49BD216-8B39-F496-044C-53D60EA63A32}"/>
              </a:ext>
            </a:extLst>
          </p:cNvPr>
          <p:cNvSpPr txBox="1"/>
          <p:nvPr/>
        </p:nvSpPr>
        <p:spPr>
          <a:xfrm>
            <a:off x="638354" y="405745"/>
            <a:ext cx="987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Possible </a:t>
            </a:r>
            <a:r>
              <a:rPr lang="fr-FR" sz="2400" b="1" dirty="0" err="1"/>
              <a:t>improvement</a:t>
            </a:r>
            <a:r>
              <a:rPr lang="fr-FR" sz="2400" b="1" dirty="0"/>
              <a:t> to the system :  Picture </a:t>
            </a:r>
            <a:r>
              <a:rPr lang="fr-FR" sz="2400" b="1" dirty="0" err="1"/>
              <a:t>missing</a:t>
            </a:r>
            <a:r>
              <a:rPr lang="fr-FR" sz="2400" b="1" dirty="0"/>
              <a:t> information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BBC731-D152-070B-43C5-A3B0C1CE2D49}"/>
              </a:ext>
            </a:extLst>
          </p:cNvPr>
          <p:cNvSpPr txBox="1"/>
          <p:nvPr/>
        </p:nvSpPr>
        <p:spPr>
          <a:xfrm>
            <a:off x="776377" y="1207698"/>
            <a:ext cx="4364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Information in the </a:t>
            </a:r>
            <a:r>
              <a:rPr lang="fr-FR" dirty="0" err="1"/>
              <a:t>bottom</a:t>
            </a:r>
            <a:r>
              <a:rPr lang="fr-FR" dirty="0"/>
              <a:t> are </a:t>
            </a:r>
            <a:r>
              <a:rPr lang="fr-FR" dirty="0" err="1"/>
              <a:t>missing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Not </a:t>
            </a:r>
            <a:r>
              <a:rPr lang="fr-FR" dirty="0" err="1"/>
              <a:t>critical</a:t>
            </a:r>
            <a:r>
              <a:rPr lang="fr-FR" dirty="0"/>
              <a:t> (all </a:t>
            </a:r>
            <a:r>
              <a:rPr lang="fr-FR" dirty="0" err="1"/>
              <a:t>needed</a:t>
            </a:r>
            <a:r>
              <a:rPr lang="fr-FR" dirty="0"/>
              <a:t> data in the </a:t>
            </a:r>
            <a:r>
              <a:rPr lang="fr-FR" dirty="0" err="1"/>
              <a:t>filename</a:t>
            </a:r>
            <a:r>
              <a:rPr lang="fr-FR" dirty="0"/>
              <a:t>)</a:t>
            </a:r>
          </a:p>
        </p:txBody>
      </p:sp>
      <p:pic>
        <p:nvPicPr>
          <p:cNvPr id="4" name="Image 3" descr="Une image contenant personne, capture d’écran, habits, ordinateur&#10;&#10;Le contenu généré par l’IA peut être incorrect.">
            <a:extLst>
              <a:ext uri="{FF2B5EF4-FFF2-40B4-BE49-F238E27FC236}">
                <a16:creationId xmlns:a16="http://schemas.microsoft.com/office/drawing/2014/main" id="{DDF75E65-B62B-223F-2FD4-E00C418AD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81" y="1257300"/>
            <a:ext cx="6478438" cy="48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0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4A44903-B8D8-DEC8-5FFC-D413F6F793C6}"/>
              </a:ext>
            </a:extLst>
          </p:cNvPr>
          <p:cNvSpPr txBox="1"/>
          <p:nvPr/>
        </p:nvSpPr>
        <p:spPr>
          <a:xfrm>
            <a:off x="638355" y="405745"/>
            <a:ext cx="19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Conclusion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3BCEB8-F28A-A2DF-4174-29D68CD0E8EB}"/>
              </a:ext>
            </a:extLst>
          </p:cNvPr>
          <p:cNvSpPr txBox="1"/>
          <p:nvPr/>
        </p:nvSpPr>
        <p:spPr>
          <a:xfrm>
            <a:off x="638354" y="1044333"/>
            <a:ext cx="5080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The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the use of real times data for the </a:t>
            </a:r>
            <a:r>
              <a:rPr lang="fr-FR" dirty="0" err="1"/>
              <a:t>japanese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Enriching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on all aspects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Professionally</a:t>
            </a:r>
            <a:r>
              <a:rPr lang="fr-FR" dirty="0"/>
              <a:t> for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involvement</a:t>
            </a:r>
            <a:r>
              <a:rPr lang="fr-FR" dirty="0"/>
              <a:t> in the </a:t>
            </a:r>
            <a:r>
              <a:rPr lang="fr-FR" dirty="0" err="1"/>
              <a:t>project</a:t>
            </a:r>
            <a:r>
              <a:rPr lang="fr-F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Personally</a:t>
            </a:r>
            <a:r>
              <a:rPr lang="fr-FR" dirty="0"/>
              <a:t> for the discussion I </a:t>
            </a:r>
            <a:r>
              <a:rPr lang="fr-FR" dirty="0" err="1"/>
              <a:t>had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masters </a:t>
            </a:r>
            <a:r>
              <a:rPr lang="fr-FR" dirty="0" err="1"/>
              <a:t>students</a:t>
            </a:r>
            <a:r>
              <a:rPr lang="fr-F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It </a:t>
            </a:r>
            <a:r>
              <a:rPr lang="fr-FR" dirty="0" err="1"/>
              <a:t>helped</a:t>
            </a:r>
            <a:r>
              <a:rPr lang="fr-FR" dirty="0"/>
              <a:t> me </a:t>
            </a:r>
            <a:r>
              <a:rPr lang="fr-FR" dirty="0" err="1"/>
              <a:t>improve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english</a:t>
            </a:r>
            <a:r>
              <a:rPr lang="fr-FR" dirty="0"/>
              <a:t> </a:t>
            </a:r>
            <a:r>
              <a:rPr lang="fr-FR" dirty="0" err="1"/>
              <a:t>skills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609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C5CD81C-0979-9EEB-1D24-148D8E969B08}"/>
              </a:ext>
            </a:extLst>
          </p:cNvPr>
          <p:cNvSpPr txBox="1"/>
          <p:nvPr/>
        </p:nvSpPr>
        <p:spPr>
          <a:xfrm>
            <a:off x="1493663" y="2967335"/>
            <a:ext cx="9204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err="1"/>
              <a:t>Thank</a:t>
            </a:r>
            <a:r>
              <a:rPr lang="fr-FR" sz="5400" b="1" dirty="0"/>
              <a:t> </a:t>
            </a:r>
            <a:r>
              <a:rPr lang="fr-FR" sz="5400" b="1" dirty="0" err="1"/>
              <a:t>you</a:t>
            </a:r>
            <a:r>
              <a:rPr lang="fr-FR" sz="5400" b="1" dirty="0"/>
              <a:t> for </a:t>
            </a:r>
            <a:r>
              <a:rPr lang="fr-FR" sz="5400" b="1" dirty="0" err="1"/>
              <a:t>your</a:t>
            </a:r>
            <a:r>
              <a:rPr lang="fr-FR" sz="5400" b="1" dirty="0"/>
              <a:t> attention</a:t>
            </a:r>
          </a:p>
        </p:txBody>
      </p:sp>
    </p:spTree>
    <p:extLst>
      <p:ext uri="{BB962C8B-B14F-4D97-AF65-F5344CB8AC3E}">
        <p14:creationId xmlns:p14="http://schemas.microsoft.com/office/powerpoint/2010/main" val="21371298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</TotalTime>
  <Words>827</Words>
  <Application>Microsoft Office PowerPoint</Application>
  <PresentationFormat>Grand écran</PresentationFormat>
  <Paragraphs>131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Lelchat</dc:creator>
  <cp:lastModifiedBy>Anthony Lelchat</cp:lastModifiedBy>
  <cp:revision>7</cp:revision>
  <dcterms:created xsi:type="dcterms:W3CDTF">2026-02-08T14:43:26Z</dcterms:created>
  <dcterms:modified xsi:type="dcterms:W3CDTF">2026-02-10T23:24:40Z</dcterms:modified>
</cp:coreProperties>
</file>